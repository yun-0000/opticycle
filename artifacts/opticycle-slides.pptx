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d1983354634a5e" /><Relationship Type="http://schemas.openxmlformats.org/officeDocument/2006/relationships/extended-properties" Target="/docProps/app.xml" Id="R3a586490ae6448c5" /><Relationship Type="http://schemas.openxmlformats.org/officeDocument/2006/relationships/officeDocument" Target="/ppt/presentation.xml" Id="R237030bfa17b43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c944b261a24fc2"/>
  </p:sldMasterIdLst>
  <p:notesMasterIdLst>
    <p:notesMasterId xmlns:r="http://schemas.openxmlformats.org/officeDocument/2006/relationships" r:id="Rf708028bbb064aa6"/>
  </p:notesMasterIdLst>
  <p:sldIdLst>
    <p:sldId xmlns:r="http://schemas.openxmlformats.org/officeDocument/2006/relationships" id="256" r:id="R22de5b99f84c4c40"/>
    <p:sldId xmlns:r="http://schemas.openxmlformats.org/officeDocument/2006/relationships" id="257" r:id="R615283f8c2674050"/>
    <p:sldId xmlns:r="http://schemas.openxmlformats.org/officeDocument/2006/relationships" id="258" r:id="R950528db81d84e64"/>
    <p:sldId xmlns:r="http://schemas.openxmlformats.org/officeDocument/2006/relationships" id="259" r:id="R380caebde36946a5"/>
    <p:sldId xmlns:r="http://schemas.openxmlformats.org/officeDocument/2006/relationships" id="260" r:id="Raeb17f37cf484968"/>
    <p:sldId xmlns:r="http://schemas.openxmlformats.org/officeDocument/2006/relationships" id="261" r:id="R565ca9910feb449e"/>
    <p:sldId xmlns:r="http://schemas.openxmlformats.org/officeDocument/2006/relationships" id="262" r:id="R9468777ff0844cc8"/>
    <p:sldId xmlns:r="http://schemas.openxmlformats.org/officeDocument/2006/relationships" id="263" r:id="R21f4d82f776144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cdf04028dd4eee" /><Relationship Type="http://schemas.openxmlformats.org/officeDocument/2006/relationships/slideMaster" Target="/ppt/slideMasters/slideMaster1.xml" Id="Re9c944b261a24fc2" /><Relationship Type="http://schemas.openxmlformats.org/officeDocument/2006/relationships/notesMaster" Target="/ppt/notesMasters/notesMaster1.xml" Id="Rf708028bbb064aa6" /><Relationship Type="http://schemas.openxmlformats.org/officeDocument/2006/relationships/presProps" Target="/ppt/presProps.xml" Id="R3dd6f01dad0f43ea" /><Relationship Type="http://schemas.openxmlformats.org/officeDocument/2006/relationships/tableStyles" Target="/ppt/tableStyles.xml" Id="R2e769a12ad8f44f3" /><Relationship Type="http://schemas.openxmlformats.org/officeDocument/2006/relationships/slide" Target="/ppt/slides/slide1.xml" Id="R22de5b99f84c4c40" /><Relationship Type="http://schemas.openxmlformats.org/officeDocument/2006/relationships/slide" Target="/ppt/slides/slide2.xml" Id="R615283f8c2674050" /><Relationship Type="http://schemas.openxmlformats.org/officeDocument/2006/relationships/slide" Target="/ppt/slides/slide3.xml" Id="R950528db81d84e64" /><Relationship Type="http://schemas.openxmlformats.org/officeDocument/2006/relationships/slide" Target="/ppt/slides/slide4.xml" Id="R380caebde36946a5" /><Relationship Type="http://schemas.openxmlformats.org/officeDocument/2006/relationships/slide" Target="/ppt/slides/slide5.xml" Id="Raeb17f37cf484968" /><Relationship Type="http://schemas.openxmlformats.org/officeDocument/2006/relationships/slide" Target="/ppt/slides/slide6.xml" Id="R565ca9910feb449e" /><Relationship Type="http://schemas.openxmlformats.org/officeDocument/2006/relationships/slide" Target="/ppt/slides/slide7.xml" Id="R9468777ff0844cc8" /><Relationship Type="http://schemas.openxmlformats.org/officeDocument/2006/relationships/slide" Target="/ppt/slides/slide8.xml" Id="R21f4d82f776144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c06279c0b34b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40f7dbe55e4ce0" /><Relationship Type="http://schemas.openxmlformats.org/officeDocument/2006/relationships/notesMaster" Target="/ppt/notesMasters/notesMaster1.xml" Id="R01c1306920504a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c96c062c252494f" /><Relationship Type="http://schemas.openxmlformats.org/officeDocument/2006/relationships/notesMaster" Target="/ppt/notesMasters/notesMaster1.xml" Id="R850c38c4a41145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2812d5946b479e" /><Relationship Type="http://schemas.openxmlformats.org/officeDocument/2006/relationships/notesMaster" Target="/ppt/notesMasters/notesMaster1.xml" Id="R82be7a3fb9dd46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88b09c44544b06" /><Relationship Type="http://schemas.openxmlformats.org/officeDocument/2006/relationships/notesMaster" Target="/ppt/notesMasters/notesMaster1.xml" Id="R1d70950f793a43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7476e5cf5649c6" /><Relationship Type="http://schemas.openxmlformats.org/officeDocument/2006/relationships/notesMaster" Target="/ppt/notesMasters/notesMaster1.xml" Id="Rb764b056e934472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4699a9cb154448" /><Relationship Type="http://schemas.openxmlformats.org/officeDocument/2006/relationships/notesMaster" Target="/ppt/notesMasters/notesMaster1.xml" Id="Rb357951483f944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80119092e24e1a" /><Relationship Type="http://schemas.openxmlformats.org/officeDocument/2006/relationships/notesMaster" Target="/ppt/notesMasters/notesMaster1.xml" Id="R50e32a0221f242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2bb411b920484a" /><Relationship Type="http://schemas.openxmlformats.org/officeDocument/2006/relationships/notesMaster" Target="/ppt/notesMasters/notesMaster1.xml" Id="R6bf8dbb08c2646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overview. Source: repository README and committed Alpaca paper-account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logic boundary. The ThesisAgent can return BULLISH, BEARISH or NO_TRADE. It cannot emit OCC symbols, quantity or limit price.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Lifecycle source: src/opticycle and src/trade. Execution uses the official Alpaca MCP server, followed by broker GET reconciliation.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Golden payload hash: 712c6feb6a8b0d6b4879a59892a1217a079057bc390cf91d4c8a80e842df9332. Source: artifacts/evidence/sanitized_fills/oc-63db2a85298b4ecabefab59076a6397e.json.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Credential-free zero-resubmit assertion and live golden episode both record mcp_submit_count=1 and second_submit=false. Source: artifacts/evidence and scripts/assert-zero-resubmit.py.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Live paper order ID and signed credit fill. This receipt predates the current 3-10 DTE / $5 selector and proves execution plus broker reconciliation. Source: artifacts/evidence/broker_lookup.json and artifacts/evidence/sanitized_fills/oc-63db2a85298b4ecabefab59076a6397e.json.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Committed broker snapshot at 2026-09-04T02:43:50Z. Source: artifacts/evidence/alpaca_cli_snapshot.json. Values are paper trading results before fees.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Honesty note: two historical positive-limit credit fills remain FILLED only. The third signed-credit fill is price-bound MATCHED. Source: artifacts/evidence/index.html.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520b76c89e4fd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f179d055474a05" /><Relationship Type="http://schemas.openxmlformats.org/officeDocument/2006/relationships/slideLayout" Target="/ppt/slideLayouts/slideLayout1.xml" Id="Rb9843c28038c4f9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843c28038c4f9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49fcb0527b4815" /><Relationship Type="http://schemas.openxmlformats.org/officeDocument/2006/relationships/notesSlide" Target="/ppt/notesSlides/notesSlide1.xml" Id="R0ce6165a2ffd4a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1c980f4e3416a" /><Relationship Type="http://schemas.openxmlformats.org/officeDocument/2006/relationships/notesSlide" Target="/ppt/notesSlides/notesSlide2.xml" Id="Reb8e08efb5684b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d143eb7a4344e2" /><Relationship Type="http://schemas.openxmlformats.org/officeDocument/2006/relationships/notesSlide" Target="/ppt/notesSlides/notesSlide3.xml" Id="R0a6910739ce24e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a77bced8140ee" /><Relationship Type="http://schemas.openxmlformats.org/officeDocument/2006/relationships/notesSlide" Target="/ppt/notesSlides/notesSlide4.xml" Id="Rb4acd648e625484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ecb64bd5984f14" /><Relationship Type="http://schemas.openxmlformats.org/officeDocument/2006/relationships/notesSlide" Target="/ppt/notesSlides/notesSlide5.xml" Id="R9c3d0afbfa4e44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c1f630b334c57" /><Relationship Type="http://schemas.openxmlformats.org/officeDocument/2006/relationships/image" Target="/ppt/media/image.jpeg" Id="R44649a4817cb4a5c" /><Relationship Type="http://schemas.openxmlformats.org/officeDocument/2006/relationships/notesSlide" Target="/ppt/notesSlides/notesSlide6.xml" Id="Re73d3e4e08d343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fcd5b289f4c13" /><Relationship Type="http://schemas.openxmlformats.org/officeDocument/2006/relationships/notesSlide" Target="/ppt/notesSlides/notesSlide7.xml" Id="R2644b889b75945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3efa7b6d54e74" /><Relationship Type="http://schemas.openxmlformats.org/officeDocument/2006/relationships/notesSlide" Target="/ppt/notesSlides/notesSlide8.xml" Id="Rd4a0178eb8904b8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ADC30-C8DA-496A-A282-E239CCC2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DAF2D-EC1B-45A9-B601-A4CBC1B6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OPTICYCLE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45C41-A982-4AF8-A07D-252874F66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4907"/>
          </a:bodyPr>
          <a:lstStyle xmlns:a="http://schemas.openxmlformats.org/drawingml/2006/main"/>
          <a:p xmlns:a="http://schemas.openxmlformats.org/drawingml/2006/main">
            <a:pPr algn="l">
              <a:buNone/>
              <a:defRPr sz="8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08031-AC29-4DA9-A2A7-68EA1C747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1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BEFORE CAPITAL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9B710-BFA0-4974-A76C-B113BB0C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24375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312"/>
                </a:solidFill>
                <a:latin typeface="Arial"/>
                <a:ea typeface="Arial"/>
                <a:cs typeface="Arial"/>
              </a:rPr>
              <a:t>Proof-carrying SPY options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2A6F27-4AC4-4CDE-A860-E2105A97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911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Payload-bound authorization with Alpaca MCP reconciliation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4396FE-E0E1-4D68-90F7-142483DA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531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PAPER ACCOUNT  PA3V84C40PJQ</a:t>
            </a:r>
          </a:p>
        </p:txBody>
      </p:sp>
    </p:spTree>
    <p:extLst>
      <p:ext uri="{BB962C8B-B14F-4D97-AF65-F5344CB8AC3E}">
        <p14:creationId xmlns:p14="http://schemas.microsoft.com/office/powerpoint/2010/main" val="5130623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8A7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4A6A46-277B-4C00-A4C3-B24659F5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4E56CC-08D4-4863-A9DD-3D6B5538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57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THE COMPLETE MODEL OUTPUT 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45F56-672F-4CD3-B70D-39D8B691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BULLISH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03F579-7820-40DC-8D4B-812DE87A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09100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9100E"/>
                </a:solidFill>
                <a:latin typeface="Arial"/>
                <a:ea typeface="Arial"/>
                <a:cs typeface="Arial"/>
              </a:rPr>
              <a:t>BEARISH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417BE-9060-494C-8396-DFF3EF2F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635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4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NO_TRADE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54B1AE-8D44-4D76-9382-F421575F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8645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9100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9100E"/>
                </a:solidFill>
                <a:latin typeface="Arial"/>
                <a:ea typeface="Arial"/>
                <a:cs typeface="Arial"/>
              </a:rPr>
              <a:t>Order fields stay in deterministic code</a:t>
            </a:r>
          </a:p>
        </p:txBody>
      </p:sp>
    </p:spTree>
    <p:extLst>
      <p:ext uri="{BB962C8B-B14F-4D97-AF65-F5344CB8AC3E}">
        <p14:creationId xmlns:p14="http://schemas.microsoft.com/office/powerpoint/2010/main" val="11559110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0EFCC-13A3-4ED3-9B37-883ABB3B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3202F6-4D07-4470-A785-4AD11AFC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ONE BROKER-VERIFIED CYCLE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70BD2-0B7C-4164-AF5C-51306F1B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419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575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OBSERVE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DB0E4F-9B6C-4846-ACCB-BF1DB434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285875"/>
            <a:ext cx="409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45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THESIS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702B4-E4A7-4D17-A012-12931EEDD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953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51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F96DC5-4270-46A3-8E59-14476A4B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619375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510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CERTIFY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B3E7B-A69C-4FCA-ABE5-16EDD125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MCP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E02996-1CBF-4A68-9F2D-D8D6EAFD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210050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1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GET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4C1ED2-ADB5-4B99-9559-4C48A74A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100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61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D2977C-912B-4429-96F8-C921B0E4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C7F7EA"/>
                </a:solidFill>
                <a:latin typeface="Arial"/>
                <a:ea typeface="Arial"/>
                <a:cs typeface="Arial"/>
              </a:rPr>
              <a:t>Fresh evidence enters once. Broker state decides the final outcome.</a:t>
            </a:r>
          </a:p>
        </p:txBody>
      </p:sp>
    </p:spTree>
    <p:extLst>
      <p:ext uri="{BB962C8B-B14F-4D97-AF65-F5344CB8AC3E}">
        <p14:creationId xmlns:p14="http://schemas.microsoft.com/office/powerpoint/2010/main" val="2401960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B52FFD-A6C2-4692-B0F3-3E0F7FE3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C1425-545C-463A-928B-56077502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EXACT PAYLOAD CERTIFICATE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60D75-C273-4365-B157-68D2A7125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712c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077474-A35F-4233-AC98-82F58DFE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95450"/>
            <a:ext cx="95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64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...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71188-8E13-4E22-B6D0-0356141CC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43050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99537"/>
          </a:bodyPr>
          <a:lstStyle xmlns:a="http://schemas.openxmlformats.org/drawingml/2006/main"/>
          <a:p xmlns:a="http://schemas.openxmlformats.org/drawingml/2006/main">
            <a:pPr algn="r">
              <a:buNone/>
              <a:defRPr sz="103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9332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B20D6-1AF3-43C2-BFFC-1BAF0ABEA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SHA-256 of the exact MLEG payload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24B33-EF24-43D1-B046-B5151C3C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SPY 740P / 724P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0EEB9-2A2E-4C87-924C-85C41F91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4005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QTY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6F552A-B9E1-4A01-AC8B-5510CC000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005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7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LIMIT -2.26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925E3-954E-44F9-9921-E9D664F58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B75549"/>
                </a:solidFill>
                <a:latin typeface="Arial"/>
                <a:ea typeface="Arial"/>
                <a:cs typeface="Arial"/>
              </a:rPr>
              <a:t>Any changed field invalidates authorization</a:t>
            </a:r>
          </a:p>
        </p:txBody>
      </p:sp>
    </p:spTree>
    <p:extLst>
      <p:ext uri="{BB962C8B-B14F-4D97-AF65-F5344CB8AC3E}">
        <p14:creationId xmlns:p14="http://schemas.microsoft.com/office/powerpoint/2010/main" val="20755354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2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3AE9AD-BF30-4ECF-921F-B9757A2E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24794-DCE5-443C-AEAB-0F0CB6CB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AMBIGUOUS RESPONSE POLICY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EC4A-F0F7-4F95-857A-30A1BB52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383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1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90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70785E-979A-4ABB-BB9B-3107A885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38300"/>
            <a:ext cx="238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1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90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E780F1-D67A-48A7-BEAE-22175BF8D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194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SUBMIT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AEECD-FE86-44FD-94CD-433066B63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19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RESUBMITS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B18A79-13B5-4829-8395-286CED0C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717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GET THE SAME CLIENT ORDER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CBFD8-F6F8-4E4F-A151-32EA8B9FE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38425"/>
            <a:ext cx="4533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oc-63db2a85298b4ecabefab59076a6397e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E71C6-96FB-42A4-B313-3929FBEF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Unknown broker state halts the agent</a:t>
            </a:r>
          </a:p>
        </p:txBody>
      </p:sp>
    </p:spTree>
    <p:extLst>
      <p:ext uri="{BB962C8B-B14F-4D97-AF65-F5344CB8AC3E}">
        <p14:creationId xmlns:p14="http://schemas.microsoft.com/office/powerpoint/2010/main" val="21418030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10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D50AF6-D02B-43A7-AAC2-3842CA28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3C83D-4135-419B-9BA9-42848B6A0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C7F7EA"/>
                </a:solidFill>
                <a:latin typeface="Arial"/>
                <a:ea typeface="Arial"/>
                <a:cs typeface="Arial"/>
              </a:rPr>
              <a:t>ALPACA BROKER GET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EEC0C-0B35-41B8-A5E9-A7E2725C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8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854BA-FD65-4EE9-9A59-8BDCA68D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LIMIT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3D954-4A5E-4671-B5F6-5971F3BF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-2.26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675C3-303F-438E-9697-32A6CB41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647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FILL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3197F0-D366-4915-B788-02A3739D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14650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CFBF7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CFBF7"/>
                </a:solidFill>
                <a:latin typeface="Arial"/>
                <a:ea typeface="Arial"/>
                <a:cs typeface="Arial"/>
              </a:rPr>
              <a:t>-2.26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6BE17A-2197-4C4E-8161-189D942E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7F7E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C7F7EA"/>
                </a:solidFill>
                <a:latin typeface="Arial"/>
                <a:ea typeface="Arial"/>
                <a:cs typeface="Arial"/>
              </a:rPr>
              <a:t>24b16fe6-0d8d-4478-afa6-0f3781eb6b33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A9F2B-9819-462E-B7F0-03A72A4D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9706C"/>
                </a:solidFill>
                <a:latin typeface="Arial"/>
                <a:ea typeface="Arial"/>
                <a:cs typeface="Arial"/>
              </a:rPr>
              <a:t>Broker order ID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649a4817cb4a5c"/>
          <a:stretch xmlns:a="http://schemas.openxmlformats.org/drawingml/2006/main"/>
        </p:blipFill>
        <p:spPr>
          <a:xfrm xmlns:a="http://schemas.openxmlformats.org/drawingml/2006/main">
            <a:off x="6972300" y="1114989"/>
            <a:ext cx="4095750" cy="5218572"/>
          </a:xfrm>
          <a:prstGeom xmlns:a="http://schemas.openxmlformats.org/drawingml/2006/main" prst="roundRect">
            <a:avLst>
              <a:gd name="adj" fmla="val 1860"/>
            </a:avLst>
          </a:prstGeom>
        </p:spPr>
      </p:pic>
      <p:sp>
        <p:nvSpPr>
          <p:cNvPr id="12" name="sanitized-receipt-label">
            <a:extLst xmlns:a="http://schemas.openxmlformats.org/drawingml/2006/main">
              <a:ext uri="{FF2B5EF4-FFF2-40B4-BE49-F238E27FC236}">
                <a16:creationId xmlns:a16="http://schemas.microsoft.com/office/drawing/2014/main" id="{84A3C6C5-5B0D-43DF-B22F-99ACC3C49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6667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FA3A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8FA3A0"/>
                </a:solidFill>
                <a:latin typeface="Arial"/>
                <a:ea typeface="Arial"/>
                <a:cs typeface="Arial"/>
              </a:rPr>
              <a:t>EXECUTION PROOF - BEFORE 3-10 DTE / $5 POLICY</a:t>
            </a:r>
          </a:p>
        </p:txBody>
      </p:sp>
    </p:spTree>
    <p:extLst>
      <p:ext uri="{BB962C8B-B14F-4D97-AF65-F5344CB8AC3E}">
        <p14:creationId xmlns:p14="http://schemas.microsoft.com/office/powerpoint/2010/main" val="11625952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CC96E9-22E8-4004-BF3F-4FDF4AF9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C9A05-4D2E-46DA-87B7-A62B4A3D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BROKER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91A6DA-4D73-4997-8C9B-66CBC236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+$55.67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C2A6C4-DBAF-4759-AD00-B8E8BE0C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CLOSED-SPREAD REALIZED P&amp;L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4F437-7D13-4DFC-A72A-69B5FCBC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577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+$77.00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73722-A853-403A-B7A8-FE18C539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577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$100,132.45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C58EBA-4552-441A-8A0A-0E22429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95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OPEN UNREALIZED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1081FE-0A73-45BA-A2B9-136BA1D7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95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ACCOUNT EQUITY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DB08AE-5598-4309-B181-46EEBC44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SEP 3, 19:43 PDT   PAPER ACCOUNT PA3V84C40PJQ</a:t>
            </a:r>
          </a:p>
        </p:txBody>
      </p:sp>
    </p:spTree>
    <p:extLst>
      <p:ext uri="{BB962C8B-B14F-4D97-AF65-F5344CB8AC3E}">
        <p14:creationId xmlns:p14="http://schemas.microsoft.com/office/powerpoint/2010/main" val="14529932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B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85DDA-EECD-44BF-B790-0A2E9B58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476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DD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52C9E-F7BF-49CA-A280-F5A5CA9F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191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9BB955-F0EA-4758-A480-4E8E824D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048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0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F3FB8-C948-4984-9FFC-F6976050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B75549"/>
                </a:solidFill>
                <a:latin typeface="Arial"/>
                <a:ea typeface="Arial"/>
                <a:cs typeface="Arial"/>
              </a:rPr>
              <a:t>FILLED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AF88BD-CD82-4661-9141-4E829CCB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B7554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B75549"/>
                </a:solidFill>
                <a:latin typeface="Arial"/>
                <a:ea typeface="Arial"/>
                <a:cs typeface="Arial"/>
              </a:rPr>
              <a:t>positive credit 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5A30B-CEBF-4DC3-8FE9-D9F8F062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67640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720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25F19-4AEB-4A04-A974-B7EF48C4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337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B8A7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B8A78"/>
                </a:solidFill>
                <a:latin typeface="Arial"/>
                <a:ea typeface="Arial"/>
                <a:cs typeface="Arial"/>
              </a:rPr>
              <a:t>MATCHED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BE284-4930-49C6-945F-8F7AFF66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467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11312"/>
                </a:solidFill>
                <a:latin typeface="Arial"/>
                <a:ea typeface="Arial"/>
                <a:cs typeface="Arial"/>
              </a:rPr>
              <a:t>signed credit limit -2.26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93DFE-0E52-4EDC-8C2E-F333B7E8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85775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11131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312"/>
                </a:solidFill>
                <a:latin typeface="Arial"/>
                <a:ea typeface="Arial"/>
                <a:cs typeface="Arial"/>
              </a:rPr>
              <a:t>The third fill proves the corrected invariant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38B5CE-CCC5-419B-8894-3CDDFDC4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19800"/>
            <a:ext cx="657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69706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9706C"/>
                </a:solidFill>
                <a:latin typeface="Arial"/>
                <a:ea typeface="Arial"/>
                <a:cs typeface="Arial"/>
              </a:rPr>
              <a:t>WATCH DEMO     EVIDENCE LEDGER     SLIDE PDF</a:t>
            </a:r>
          </a:p>
        </p:txBody>
      </p:sp>
    </p:spTree>
    <p:extLst>
      <p:ext uri="{BB962C8B-B14F-4D97-AF65-F5344CB8AC3E}">
        <p14:creationId xmlns:p14="http://schemas.microsoft.com/office/powerpoint/2010/main" val="17086550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2026-09-04T04:47:41.0910000Z</dcterms:created>
  <dcterms:modified xsi:type="dcterms:W3CDTF">2026-09-04T04:47:41.0910000Z</dcterms:modified>
</coreProperties>
</file>