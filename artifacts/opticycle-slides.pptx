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cc84ad96fb40ab" /><Relationship Type="http://schemas.openxmlformats.org/officeDocument/2006/relationships/extended-properties" Target="/docProps/app.xml" Id="Raa44b327b78f4788" /><Relationship Type="http://schemas.openxmlformats.org/officeDocument/2006/relationships/officeDocument" Target="/ppt/presentation.xml" Id="R3bca682dea5e40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46ebb8aefe4ece"/>
  </p:sldMasterIdLst>
  <p:notesMasterIdLst>
    <p:notesMasterId xmlns:r="http://schemas.openxmlformats.org/officeDocument/2006/relationships" r:id="R2a3ab23e8cbb4ddd"/>
  </p:notesMasterIdLst>
  <p:sldIdLst>
    <p:sldId xmlns:r="http://schemas.openxmlformats.org/officeDocument/2006/relationships" id="256" r:id="Rf02c50577dab47fd"/>
    <p:sldId xmlns:r="http://schemas.openxmlformats.org/officeDocument/2006/relationships" id="257" r:id="R27fa50315a924868"/>
    <p:sldId xmlns:r="http://schemas.openxmlformats.org/officeDocument/2006/relationships" id="258" r:id="R02e40673986143b1"/>
    <p:sldId xmlns:r="http://schemas.openxmlformats.org/officeDocument/2006/relationships" id="259" r:id="R8494169e32ba4f2b"/>
    <p:sldId xmlns:r="http://schemas.openxmlformats.org/officeDocument/2006/relationships" id="260" r:id="R0473a3cca32b440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a5e7d6833e47e0" /><Relationship Type="http://schemas.openxmlformats.org/officeDocument/2006/relationships/slideMaster" Target="/ppt/slideMasters/slideMaster1.xml" Id="R5346ebb8aefe4ece" /><Relationship Type="http://schemas.openxmlformats.org/officeDocument/2006/relationships/notesMaster" Target="/ppt/notesMasters/notesMaster1.xml" Id="R2a3ab23e8cbb4ddd" /><Relationship Type="http://schemas.openxmlformats.org/officeDocument/2006/relationships/presProps" Target="/ppt/presProps.xml" Id="R946218ec52364e78" /><Relationship Type="http://schemas.openxmlformats.org/officeDocument/2006/relationships/tableStyles" Target="/ppt/tableStyles.xml" Id="R2235a20e3c8143c2" /><Relationship Type="http://schemas.openxmlformats.org/officeDocument/2006/relationships/slide" Target="/ppt/slides/slide1.xml" Id="Rf02c50577dab47fd" /><Relationship Type="http://schemas.openxmlformats.org/officeDocument/2006/relationships/slide" Target="/ppt/slides/slide2.xml" Id="R27fa50315a924868" /><Relationship Type="http://schemas.openxmlformats.org/officeDocument/2006/relationships/slide" Target="/ppt/slides/slide3.xml" Id="R02e40673986143b1" /><Relationship Type="http://schemas.openxmlformats.org/officeDocument/2006/relationships/slide" Target="/ppt/slides/slide4.xml" Id="R8494169e32ba4f2b" /><Relationship Type="http://schemas.openxmlformats.org/officeDocument/2006/relationships/slide" Target="/ppt/slides/slide5.xml" Id="R0473a3cca32b44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e70b69d04d4b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e2dd07d66444ef" /><Relationship Type="http://schemas.openxmlformats.org/officeDocument/2006/relationships/notesMaster" Target="/ppt/notesMasters/notesMaster1.xml" Id="Rcd7d6427793249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9db2def87be4880" /><Relationship Type="http://schemas.openxmlformats.org/officeDocument/2006/relationships/notesMaster" Target="/ppt/notesMasters/notesMaster1.xml" Id="R39bfb4d7a4ef45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26dc4ab48f4341" /><Relationship Type="http://schemas.openxmlformats.org/officeDocument/2006/relationships/notesMaster" Target="/ppt/notesMasters/notesMaster1.xml" Id="Rc1f09f8f870141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88f3ef48954925" /><Relationship Type="http://schemas.openxmlformats.org/officeDocument/2006/relationships/notesMaster" Target="/ppt/notesMasters/notesMaster1.xml" Id="R27b7ff1d4a1643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059b04ef09b4658" /><Relationship Type="http://schemas.openxmlformats.org/officeDocument/2006/relationships/notesMaster" Target="/ppt/notesMasters/notesMaster1.xml" Id="Rb4e2286ec0a842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cover. Source: artifacts/demo-poster.png. Paper trading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artifacts/evidence/broker_lookup.json and artifacts/evidence/public.jsonl. The signed-credit fill occurred Sep 1, 2026 in the dedicated paper account.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Credential-free reproduction: scripts/assert-exits-only.py and scripts/assert-zero-resubmit.py. Mutations of leg, quantity, and limit are rejected.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artifacts/evidence/alpaca_cli_snapshot.json and artifacts/evidence/broker_lookup.json. Closed spread P&amp;L is approximate and before fees. The latest committed snapshot is not presented as a current Sep 4 mark.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Risk limits source: src/opticycle/settings.py. Evidence links live under artifacts/evidence/. Honesty boundary is required in README, one-page, slides, and submission 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1b6932b40b45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2d02bd922048a7" /><Relationship Type="http://schemas.openxmlformats.org/officeDocument/2006/relationships/slideLayout" Target="/ppt/slideLayouts/slideLayout1.xml" Id="R83b8431406e949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b8431406e949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5355fb4e1c4e6e" /><Relationship Type="http://schemas.openxmlformats.org/officeDocument/2006/relationships/image" Target="/ppt/media/image.png" Id="R4352365d2d40426e" /><Relationship Type="http://schemas.openxmlformats.org/officeDocument/2006/relationships/notesSlide" Target="/ppt/notesSlides/notesSlide1.xml" Id="R5d5a3a46741c4c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8e2d43e58d4009" /><Relationship Type="http://schemas.openxmlformats.org/officeDocument/2006/relationships/notesSlide" Target="/ppt/notesSlides/notesSlide2.xml" Id="Re241d325beb141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2892d0de8b4a64" /><Relationship Type="http://schemas.openxmlformats.org/officeDocument/2006/relationships/notesSlide" Target="/ppt/notesSlides/notesSlide3.xml" Id="R4e7587ecd49e40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72834c7f9a46e2" /><Relationship Type="http://schemas.openxmlformats.org/officeDocument/2006/relationships/notesSlide" Target="/ppt/notesSlides/notesSlide4.xml" Id="Ra3d700b5a45a4c8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022888b2dc4117" /><Relationship Type="http://schemas.openxmlformats.org/officeDocument/2006/relationships/notesSlide" Target="/ppt/notesSlides/notesSlide5.xml" Id="R6380f918c0734ff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52365d2d40426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0402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9D75F1-964F-4ABF-B520-D43819D9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FF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A8FF00"/>
                </a:solidFill>
                <a:latin typeface="Helvetica Neue"/>
                <a:ea typeface="Helvetica Neue"/>
                <a:cs typeface="Helvetica Neue"/>
              </a:rPr>
              <a:t>OPTICYCLE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B1F2CD-CB30-41B7-96C7-D8B4A89D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AA2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9AA2A7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1C0DF7-A5D5-4592-B061-C685E0E2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1F2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1F2ED"/>
                </a:solidFill>
                <a:latin typeface="Helvetica Neue"/>
                <a:ea typeface="Helvetica Neue"/>
                <a:cs typeface="Helvetica Neue"/>
              </a:rPr>
              <a:t>One verified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5D2FEF-0F11-4E75-BA2A-159175E0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2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9AA2A7"/>
                </a:solidFill>
                <a:latin typeface="Helvetica Neue"/>
                <a:ea typeface="Helvetica Neue"/>
                <a:cs typeface="Helvetica Neue"/>
              </a:rPr>
              <a:t>The broker receipt, not the transport response, decides what is true.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4FA03A-2658-431C-AD7E-1F5407DF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867025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3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7D29D0-5924-437C-B59A-4BF75505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333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519"/>
          </a:solidFill>
          <a:ln xmlns:a="http://schemas.openxmlformats.org/drawingml/2006/main" w="9525">
            <a:solidFill>
              <a:srgbClr val="29313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B0661B-E4AB-41D4-B473-473A613B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051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1F2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1F2ED"/>
                </a:solidFill>
                <a:latin typeface="Helvetica Neue"/>
                <a:ea typeface="Helvetica Neue"/>
                <a:cs typeface="Helvetica Neue"/>
              </a:rPr>
              <a:t>SNAPSHOT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7EB01F-D1C1-4CCC-AAEE-793D388B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67025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3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66DEEF-D717-4E4D-9F95-79B54921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76500"/>
            <a:ext cx="1333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519"/>
          </a:solidFill>
          <a:ln xmlns:a="http://schemas.openxmlformats.org/drawingml/2006/main" w="9525">
            <a:solidFill>
              <a:srgbClr val="29313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F3D793-F28F-4B07-A93A-07B6E383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7051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1F2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1F2ED"/>
                </a:solidFill>
                <a:latin typeface="Helvetica Neue"/>
                <a:ea typeface="Helvetica Neue"/>
                <a:cs typeface="Helvetica Neue"/>
              </a:rPr>
              <a:t>LLM STANCE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BD1BAA-ABC3-4102-A880-8709BCAA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67025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3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8D3E53-226F-46E5-B99D-8F1D930F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76500"/>
            <a:ext cx="1333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519"/>
          </a:solidFill>
          <a:ln xmlns:a="http://schemas.openxmlformats.org/drawingml/2006/main" w="9525">
            <a:solidFill>
              <a:srgbClr val="29313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A2A916-2992-4AF7-A7B7-E5959DC0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051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1F2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1F2ED"/>
                </a:solidFill>
                <a:latin typeface="Helvetica Neue"/>
                <a:ea typeface="Helvetica Neue"/>
                <a:cs typeface="Helvetica Neue"/>
              </a:rPr>
              <a:t>PAYLOAD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4B510C-8E8F-44AE-B0C6-624C334D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67025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3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96A9B1-18FC-4B15-91D5-6EDD334F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476500"/>
            <a:ext cx="1333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519"/>
          </a:solidFill>
          <a:ln xmlns:a="http://schemas.openxmlformats.org/drawingml/2006/main" w="9525">
            <a:solidFill>
              <a:srgbClr val="29313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64D8D0-46E5-4882-B618-ADA50B91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7051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1F2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1F2ED"/>
                </a:solidFill>
                <a:latin typeface="Helvetica Neue"/>
                <a:ea typeface="Helvetica Neue"/>
                <a:cs typeface="Helvetica Neue"/>
              </a:rPr>
              <a:t>CERT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3F33DC-24E2-4C56-B24A-2B6D25555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67025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3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F031CA-CA3B-4EAE-BDC0-29B231ED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76500"/>
            <a:ext cx="1333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519"/>
          </a:solidFill>
          <a:ln xmlns:a="http://schemas.openxmlformats.org/drawingml/2006/main" w="9525">
            <a:solidFill>
              <a:srgbClr val="29313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3C7053-B7AE-4EBD-9431-6A6D0F7A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051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1F2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1F2ED"/>
                </a:solidFill>
                <a:latin typeface="Helvetica Neue"/>
                <a:ea typeface="Helvetica Neue"/>
                <a:cs typeface="Helvetica Neue"/>
              </a:rPr>
              <a:t>MCP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C56499-E901-42AE-BD9D-EABE7B6D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867025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3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D26315-41C2-48B5-B726-78D5869D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76500"/>
            <a:ext cx="1333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519"/>
          </a:solidFill>
          <a:ln xmlns:a="http://schemas.openxmlformats.org/drawingml/2006/main" w="9525">
            <a:solidFill>
              <a:srgbClr val="29313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F2603F-1793-4C89-BB7E-25F70920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051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1F2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1F2ED"/>
                </a:solidFill>
                <a:latin typeface="Helvetica Neue"/>
                <a:ea typeface="Helvetica Neue"/>
                <a:cs typeface="Helvetica Neue"/>
              </a:rPr>
              <a:t>BROKER GET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8EB9EB-6A67-47F6-BD56-BC5AFBEE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76500"/>
            <a:ext cx="1333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519"/>
          </a:solidFill>
          <a:ln xmlns:a="http://schemas.openxmlformats.org/drawingml/2006/main" w="19050">
            <a:solidFill>
              <a:srgbClr val="A8FF00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9035A9-17AC-42A0-96BD-AFE7C47B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7051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8FF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A8FF00"/>
                </a:solidFill>
                <a:latin typeface="Helvetica Neue"/>
                <a:ea typeface="Helvetica Neue"/>
                <a:cs typeface="Helvetica Neue"/>
              </a:rPr>
              <a:t>MATCHED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D58E5A-F3C8-4B77-BE87-D16742FA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1F2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1F2ED"/>
                </a:solidFill>
                <a:latin typeface="Helvetica Neue"/>
                <a:ea typeface="Helvetica Neue"/>
                <a:cs typeface="Helvetica Neue"/>
              </a:rPr>
              <a:t>SELL 740P   BUY 724P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804FED-AFAA-4101-955A-AD1130B0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DB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DB9B"/>
                </a:solidFill>
                <a:latin typeface="Helvetica Neue"/>
                <a:ea typeface="Helvetica Neue"/>
                <a:cs typeface="Helvetica Neue"/>
              </a:rPr>
              <a:t>limit -2.26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059353-4602-48CA-BB3F-E9C293F8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053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DB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DB9B"/>
                </a:solidFill>
                <a:latin typeface="Helvetica Neue"/>
                <a:ea typeface="Helvetica Neue"/>
                <a:cs typeface="Helvetica Neue"/>
              </a:rPr>
              <a:t>fill -2.26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602F36-2253-4384-B359-87EEA89D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052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2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9AA2A7"/>
                </a:solidFill>
                <a:latin typeface="Helvetica Neue"/>
                <a:ea typeface="Helvetica Neue"/>
                <a:cs typeface="Helvetica Neue"/>
              </a:rPr>
              <a:t>order 24b16fe6...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B0845B-B238-4E35-85C4-F5FB7DC89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243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2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9AA2A7"/>
                </a:solidFill>
                <a:latin typeface="Helvetica Neue"/>
                <a:ea typeface="Helvetica Neue"/>
                <a:cs typeface="Helvetica Neue"/>
              </a:rPr>
              <a:t>client oc-63db2a...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73A6E8-D64C-4C52-A3B7-F9940AAA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95850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8FF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A8FF00"/>
                </a:solidFill>
                <a:latin typeface="Helvetica Neue"/>
                <a:ea typeface="Helvetica Neue"/>
                <a:cs typeface="Helvetica Neue"/>
              </a:rPr>
              <a:t>price-bound MATCHED</a:t>
            </a:r>
          </a:p>
        </p:txBody>
      </p:sp>
    </p:spTree>
    <p:extLst>
      <p:ext uri="{BB962C8B-B14F-4D97-AF65-F5344CB8AC3E}">
        <p14:creationId xmlns:p14="http://schemas.microsoft.com/office/powerpoint/2010/main" val="17240055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43A149-CBE7-43F8-8E5F-300D142D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FF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A8FF00"/>
                </a:solidFill>
                <a:latin typeface="Helvetica Neue"/>
                <a:ea typeface="Helvetica Neue"/>
                <a:cs typeface="Helvetica Neue"/>
              </a:rPr>
              <a:t>OPTICYCLE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9B66A1-399F-49FF-A650-529429A0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AA2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9AA2A7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11CE8C-052D-45F6-8CCF-5E3EF0E9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1F2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1F2ED"/>
                </a:solidFill>
                <a:latin typeface="Helvetica Neue"/>
                <a:ea typeface="Helvetica Neue"/>
                <a:cs typeface="Helvetica Neue"/>
              </a:rPr>
              <a:t>Authorization follows the payload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913D6A-C992-42F5-890B-617ED20A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2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9AA2A7"/>
                </a:solidFill>
                <a:latin typeface="Helvetica Neue"/>
                <a:ea typeface="Helvetica Neue"/>
                <a:cs typeface="Helvetica Neue"/>
              </a:rPr>
              <a:t>The model has no route to contracts, quantity, limit price, or execution.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54254B-8FDA-49D1-B38B-A12826F1B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381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FF0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D00B74-86E0-4C8E-AF55-0C98C481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8FF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8FF00"/>
                </a:solidFill>
                <a:latin typeface="Helvetica Neue"/>
                <a:ea typeface="Helvetica Neue"/>
                <a:cs typeface="Helvetica Neue"/>
              </a:rPr>
              <a:t>BYTE-BOUND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5FEB4C-BDBE-4D14-B60D-CCEC4A0A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87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1F2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1F2ED"/>
                </a:solidFill>
                <a:latin typeface="Helvetica Neue"/>
                <a:ea typeface="Helvetica Neue"/>
                <a:cs typeface="Helvetica Neue"/>
              </a:rPr>
              <a:t>Any change invalidates the certificate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898E93-6951-4173-A047-F3903687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AA2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9AA2A7"/>
                </a:solidFill>
                <a:latin typeface="Helvetica Neue"/>
                <a:ea typeface="Helvetica Neue"/>
                <a:cs typeface="Helvetica Neue"/>
              </a:rPr>
              <a:t>symbol</a:t>
            </a:r>
          </a:p>
          <a:p xmlns:a="http://schemas.openxmlformats.org/drawingml/2006/main">
            <a:pPr algn="l">
              <a:defRPr sz="1500" b="0">
                <a:solidFill>
                  <a:srgbClr val="9AA2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9AA2A7"/>
                </a:solidFill>
                <a:latin typeface="Helvetica Neue"/>
                <a:ea typeface="Helvetica Neue"/>
                <a:cs typeface="Helvetica Neue"/>
              </a:rPr>
              <a:t>side or intent</a:t>
            </a:r>
          </a:p>
          <a:p xmlns:a="http://schemas.openxmlformats.org/drawingml/2006/main">
            <a:pPr algn="l">
              <a:defRPr sz="1500" b="0">
                <a:solidFill>
                  <a:srgbClr val="9AA2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9AA2A7"/>
                </a:solidFill>
                <a:latin typeface="Helvetica Neue"/>
                <a:ea typeface="Helvetica Neue"/>
                <a:cs typeface="Helvetica Neue"/>
              </a:rPr>
              <a:t>leg ratio</a:t>
            </a:r>
          </a:p>
          <a:p xmlns:a="http://schemas.openxmlformats.org/drawingml/2006/main">
            <a:pPr algn="l">
              <a:defRPr sz="1500" b="0">
                <a:solidFill>
                  <a:srgbClr val="9AA2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9AA2A7"/>
                </a:solidFill>
                <a:latin typeface="Helvetica Neue"/>
                <a:ea typeface="Helvetica Neue"/>
                <a:cs typeface="Helvetica Neue"/>
              </a:rPr>
              <a:t>quantity</a:t>
            </a:r>
          </a:p>
          <a:p xmlns:a="http://schemas.openxmlformats.org/drawingml/2006/main">
            <a:pPr algn="l">
              <a:defRPr sz="1500" b="0">
                <a:solidFill>
                  <a:srgbClr val="9AA2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9AA2A7"/>
                </a:solidFill>
                <a:latin typeface="Helvetica Neue"/>
                <a:ea typeface="Helvetica Neue"/>
                <a:cs typeface="Helvetica Neue"/>
              </a:rPr>
              <a:t>limit price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2D40A0-6810-4FB0-90F7-7C5EBFFE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526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8FF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8FF00"/>
                </a:solidFill>
                <a:latin typeface="Helvetica Neue"/>
                <a:ea typeface="Helvetica Neue"/>
                <a:cs typeface="Helvetica Neue"/>
              </a:rPr>
              <a:t>ZERO-RESUBMIT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26246A-0603-4076-A058-1105A86E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28900"/>
            <a:ext cx="142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0DB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5850" b="1">
                <a:solidFill>
                  <a:srgbClr val="00DB9B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7C2A28-1EE7-41D8-A753-28BB2059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337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1F2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1F2ED"/>
                </a:solidFill>
                <a:latin typeface="Helvetica Neue"/>
                <a:ea typeface="Helvetica Neue"/>
                <a:cs typeface="Helvetica Neue"/>
              </a:rPr>
              <a:t>MCP submit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5DD30D-0CDA-4D8B-9D1C-E361FC29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86200"/>
            <a:ext cx="142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0DB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5850" b="1">
                <a:solidFill>
                  <a:srgbClr val="00DB9B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0472C0-463E-4AE0-B125-9887CF3F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910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1F2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1F2ED"/>
                </a:solidFill>
                <a:latin typeface="Helvetica Neue"/>
                <a:ea typeface="Helvetica Neue"/>
                <a:cs typeface="Helvetica Neue"/>
              </a:rPr>
              <a:t>resubmits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78EE1F-2468-413D-ACA0-90C6DFFE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1244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2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9AA2A7"/>
                </a:solidFill>
                <a:latin typeface="Helvetica Neue"/>
                <a:ea typeface="Helvetica Neue"/>
                <a:cs typeface="Helvetica Neue"/>
              </a:rPr>
              <a:t>Unknown response: GET the same client ID or HALT</a:t>
            </a:r>
          </a:p>
        </p:txBody>
      </p:sp>
    </p:spTree>
    <p:extLst>
      <p:ext uri="{BB962C8B-B14F-4D97-AF65-F5344CB8AC3E}">
        <p14:creationId xmlns:p14="http://schemas.microsoft.com/office/powerpoint/2010/main" val="10358689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05BA01-DE1E-486E-BBAE-0BD63E92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FF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A8FF00"/>
                </a:solidFill>
                <a:latin typeface="Helvetica Neue"/>
                <a:ea typeface="Helvetica Neue"/>
                <a:cs typeface="Helvetica Neue"/>
              </a:rPr>
              <a:t>OPTICYCLE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8F8A25-D947-4C22-915C-7BB129C0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AA2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9AA2A7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D69DA8-FD5C-489B-A8C7-51DE12973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1F2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1F2ED"/>
                </a:solidFill>
                <a:latin typeface="Helvetica Neue"/>
                <a:ea typeface="Helvetica Neue"/>
                <a:cs typeface="Helvetica Neue"/>
              </a:rPr>
              <a:t>Broker paper 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C0AC13-10C7-46BE-9163-96EFCE91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2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9AA2A7"/>
                </a:solidFill>
                <a:latin typeface="Helvetica Neue"/>
                <a:ea typeface="Helvetica Neue"/>
                <a:cs typeface="Helvetica Neue"/>
              </a:rPr>
              <a:t>Actual fills stay separate from modeled research and from the open position mark.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D4702D-901D-417E-8DFB-C179A782F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2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9AA2A7"/>
                </a:solidFill>
                <a:latin typeface="Helvetica Neue"/>
                <a:ea typeface="Helvetica Neue"/>
                <a:cs typeface="Helvetica Neue"/>
              </a:rPr>
              <a:t>STRUCTURE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B74E58-146A-419C-9A69-B6639A7F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90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2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9AA2A7"/>
                </a:solidFill>
                <a:latin typeface="Helvetica Neue"/>
                <a:ea typeface="Helvetica Neue"/>
                <a:cs typeface="Helvetica Neue"/>
              </a:rPr>
              <a:t>ENTRY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309420-2D01-4901-A161-6821C99E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190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2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9AA2A7"/>
                </a:solidFill>
                <a:latin typeface="Helvetica Neue"/>
                <a:ea typeface="Helvetica Neue"/>
                <a:cs typeface="Helvetica Neue"/>
              </a:rPr>
              <a:t>BROKER 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BFB218-4061-4AB5-B718-F9BEE529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2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9AA2A7"/>
                </a:solidFill>
                <a:latin typeface="Helvetica Neue"/>
                <a:ea typeface="Helvetica Neue"/>
                <a:cs typeface="Helvetica Neue"/>
              </a:rPr>
              <a:t>RESULT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4A617F-7B08-45D4-AB20-CAB5EF5A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3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C7022F-1D40-4CB1-B88D-5BD53639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1F2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1F2ED"/>
                </a:solidFill>
                <a:latin typeface="Helvetica Neue"/>
                <a:ea typeface="Helvetica Neue"/>
                <a:cs typeface="Helvetica Neue"/>
              </a:rPr>
              <a:t>793C / 809C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8B46EA-1F5F-49EF-AE36-811D9A36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003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1F2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1F2ED"/>
                </a:solidFill>
                <a:latin typeface="Helvetica Neue"/>
                <a:ea typeface="Helvetica Neue"/>
                <a:cs typeface="Helvetica Neue"/>
              </a:rPr>
              <a:t>filled -2.11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B624C1-EC20-4E8A-8510-67EFCC78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8003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1F2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1F2ED"/>
                </a:solidFill>
                <a:latin typeface="Helvetica Neue"/>
                <a:ea typeface="Helvetica Neue"/>
                <a:cs typeface="Helvetica Neue"/>
              </a:rPr>
              <a:t>closed through MCP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21E6F6-76A7-46B7-8E49-296B9824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003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DB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DB9B"/>
                </a:solidFill>
                <a:latin typeface="Helvetica Neue"/>
                <a:ea typeface="Helvetica Neue"/>
                <a:cs typeface="Helvetica Neue"/>
              </a:rPr>
              <a:t>+$58 approx.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6EAFCE-AEDA-4666-B5C4-A30E54EE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3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B97F0E-8828-4391-B28F-78FFAAA2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1F2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1F2ED"/>
                </a:solidFill>
                <a:latin typeface="Helvetica Neue"/>
                <a:ea typeface="Helvetica Neue"/>
                <a:cs typeface="Helvetica Neue"/>
              </a:rPr>
              <a:t>768C / 769C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D6A13B-E627-4A93-9F23-A0216E50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814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1F2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1F2ED"/>
                </a:solidFill>
                <a:latin typeface="Helvetica Neue"/>
                <a:ea typeface="Helvetica Neue"/>
                <a:cs typeface="Helvetica Neue"/>
              </a:rPr>
              <a:t>filled -0.51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A7FE39-BC8F-4C66-A975-4E4EDE13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5814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1F2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1F2ED"/>
                </a:solidFill>
                <a:latin typeface="Helvetica Neue"/>
                <a:ea typeface="Helvetica Neue"/>
                <a:cs typeface="Helvetica Neue"/>
              </a:rPr>
              <a:t>closed through MCP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1C4663-0B3B-4E8D-B113-204AB94F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814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1F2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1F2ED"/>
                </a:solidFill>
                <a:latin typeface="Helvetica Neue"/>
                <a:ea typeface="Helvetica Neue"/>
                <a:cs typeface="Helvetica Neue"/>
              </a:rPr>
              <a:t>-$2 approx.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7BDE79-88BA-4010-B870-2D250F37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3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A3041B-143E-4E50-9627-F0830E919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1F2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1F2ED"/>
                </a:solidFill>
                <a:latin typeface="Helvetica Neue"/>
                <a:ea typeface="Helvetica Neue"/>
                <a:cs typeface="Helvetica Neue"/>
              </a:rPr>
              <a:t>740P / 724P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2C9AD0-6E2E-4E17-A33E-D0247F61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624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1F2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1F2ED"/>
                </a:solidFill>
                <a:latin typeface="Helvetica Neue"/>
                <a:ea typeface="Helvetica Neue"/>
                <a:cs typeface="Helvetica Neue"/>
              </a:rPr>
              <a:t>limit -2.26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6F6F37-418C-433E-A051-D95848A4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3624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DB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DB9B"/>
                </a:solidFill>
                <a:latin typeface="Helvetica Neue"/>
                <a:ea typeface="Helvetica Neue"/>
                <a:cs typeface="Helvetica Neue"/>
              </a:rPr>
              <a:t>price-bound MATCHED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86FB47-D80A-4932-BEBC-C8415984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624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1F2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1F2ED"/>
                </a:solidFill>
                <a:latin typeface="Helvetica Neue"/>
                <a:ea typeface="Helvetica Neue"/>
                <a:cs typeface="Helvetica Neue"/>
              </a:rPr>
              <a:t>open at Sep 1 snapshot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A4FD15-55C9-4038-9DDF-80F33EC4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38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DADA99-8592-4973-8ABA-65E9E66D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DB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DB9B"/>
                </a:solidFill>
                <a:latin typeface="Helvetica Neue"/>
                <a:ea typeface="Helvetica Neue"/>
                <a:cs typeface="Helvetica Neue"/>
              </a:rPr>
              <a:t>+$55.67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02F28B-7786-4E8A-9D91-9BA6733B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4102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1F2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1F2ED"/>
                </a:solidFill>
                <a:latin typeface="Helvetica Neue"/>
                <a:ea typeface="Helvetica Neue"/>
                <a:cs typeface="Helvetica Neue"/>
              </a:rPr>
              <a:t>closed-spread realized P&amp;L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7B9949-9C62-40A0-8169-DC12DD83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340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9AA2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9AA2A7"/>
                </a:solidFill>
                <a:latin typeface="Helvetica Neue"/>
                <a:ea typeface="Helvetica Neue"/>
                <a:cs typeface="Helvetica Neue"/>
              </a:rPr>
              <a:t>$100,036.62 equity   -$19 open P&amp;L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90026C-8EC1-4D36-8161-064387C1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6769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AA2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9AA2A7"/>
                </a:solidFill>
                <a:latin typeface="Helvetica Neue"/>
                <a:ea typeface="Helvetica Neue"/>
                <a:cs typeface="Helvetica Neue"/>
              </a:rPr>
              <a:t>Sep 1 committed CLI snapshot</a:t>
            </a:r>
          </a:p>
        </p:txBody>
      </p:sp>
    </p:spTree>
    <p:extLst>
      <p:ext uri="{BB962C8B-B14F-4D97-AF65-F5344CB8AC3E}">
        <p14:creationId xmlns:p14="http://schemas.microsoft.com/office/powerpoint/2010/main" val="20390426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B27E36-AEA7-4975-860C-13C7DB08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FF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A8FF00"/>
                </a:solidFill>
                <a:latin typeface="Helvetica Neue"/>
                <a:ea typeface="Helvetica Neue"/>
                <a:cs typeface="Helvetica Neue"/>
              </a:rPr>
              <a:t>OPTICYCLE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083489-7118-40A7-A20B-AEE01BF9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AA2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9AA2A7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32608C-26E7-4B0B-B0A6-D4A3A96F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1F2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1F2ED"/>
                </a:solidFill>
                <a:latin typeface="Helvetica Neue"/>
                <a:ea typeface="Helvetica Neue"/>
                <a:cs typeface="Helvetica Neue"/>
              </a:rPr>
              <a:t>Decision rights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48D11A-33EF-45A5-8023-41F64A59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2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9AA2A7"/>
                </a:solidFill>
                <a:latin typeface="Helvetica Neue"/>
                <a:ea typeface="Helvetica Neue"/>
                <a:cs typeface="Helvetica Neue"/>
              </a:rPr>
              <a:t>One stance from AI. Every capital decision remains deterministic and broker-verifiable.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0D0B6D-2A96-4F78-B714-36C0CB0A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8FF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A8FF00"/>
                </a:solidFill>
                <a:latin typeface="Helvetica Neue"/>
                <a:ea typeface="Helvetica Neue"/>
                <a:cs typeface="Helvetica Neue"/>
              </a:rPr>
              <a:t>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8DDEDC-F8B0-40F8-BA8E-AAA9EFC5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295525"/>
            <a:ext cx="533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1F2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1F2ED"/>
                </a:solidFill>
                <a:latin typeface="Helvetica Neue"/>
                <a:ea typeface="Helvetica Neue"/>
                <a:cs typeface="Helvetica Neue"/>
              </a:rPr>
              <a:t>BULLISH, BEARISH, or NO_TRADE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0C2662-792E-4471-9A0D-FA4B158B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666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3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D51AE7-EE9C-40F6-A287-29241CCF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8FF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A8FF00"/>
                </a:solidFill>
                <a:latin typeface="Helvetica Neue"/>
                <a:ea typeface="Helvetica Neue"/>
                <a:cs typeface="Helvetica Neue"/>
              </a:rPr>
              <a:t>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0388B7-8FB9-407E-86C3-E74C9705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86125"/>
            <a:ext cx="533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1F2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1F2ED"/>
                </a:solidFill>
                <a:latin typeface="Helvetica Neue"/>
                <a:ea typeface="Helvetica Neue"/>
                <a:cs typeface="Helvetica Neue"/>
              </a:rPr>
              <a:t>contracts, size, price, risk, exits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C2703A-66D7-4D66-9FCE-C3C1B592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666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3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D9BBAE-278C-4FFE-B332-3A0625B5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48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8FF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A8FF00"/>
                </a:solidFill>
                <a:latin typeface="Helvetica Neue"/>
                <a:ea typeface="Helvetica Neue"/>
                <a:cs typeface="Helvetica Neue"/>
              </a:rPr>
              <a:t>BROKER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9CCD4B-E5FB-4AF7-B054-6129F321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76725"/>
            <a:ext cx="533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1F2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1F2ED"/>
                </a:solidFill>
                <a:latin typeface="Helvetica Neue"/>
                <a:ea typeface="Helvetica Neue"/>
                <a:cs typeface="Helvetica Neue"/>
              </a:rPr>
              <a:t>receipt, fill, position, account equity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451235-61AD-4053-BF1A-FF9ACE455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666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3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B221EF-8BB1-4B2F-ACA5-3F41D01D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050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8FF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8FF00"/>
                </a:solidFill>
                <a:latin typeface="Helvetica Neue"/>
                <a:ea typeface="Helvetica Neue"/>
                <a:cs typeface="Helvetica Neue"/>
              </a:rPr>
              <a:t>HARD LIMITS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E99EEB-2EBD-4138-946F-1F222C20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314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1F2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1F2ED"/>
                </a:solidFill>
                <a:latin typeface="Helvetica Neue"/>
                <a:ea typeface="Helvetica Neue"/>
                <a:cs typeface="Helvetica Neue"/>
              </a:rPr>
              <a:t>3-10 DTE</a:t>
            </a:r>
          </a:p>
          <a:p xmlns:a="http://schemas.openxmlformats.org/drawingml/2006/main">
            <a:pPr algn="l">
              <a:defRPr sz="1725" b="1">
                <a:solidFill>
                  <a:srgbClr val="F1F2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1F2ED"/>
                </a:solidFill>
                <a:latin typeface="Helvetica Neue"/>
                <a:ea typeface="Helvetica Neue"/>
                <a:cs typeface="Helvetica Neue"/>
              </a:rPr>
              <a:t>$5 width</a:t>
            </a:r>
          </a:p>
          <a:p xmlns:a="http://schemas.openxmlformats.org/drawingml/2006/main">
            <a:pPr algn="l">
              <a:defRPr sz="1725" b="1">
                <a:solidFill>
                  <a:srgbClr val="F1F2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1F2ED"/>
                </a:solidFill>
                <a:latin typeface="Helvetica Neue"/>
                <a:ea typeface="Helvetica Neue"/>
                <a:cs typeface="Helvetica Neue"/>
              </a:rPr>
              <a:t>0.20-0.30 short delta</a:t>
            </a:r>
          </a:p>
          <a:p xmlns:a="http://schemas.openxmlformats.org/drawingml/2006/main">
            <a:pPr algn="l">
              <a:defRPr sz="1725" b="1">
                <a:solidFill>
                  <a:srgbClr val="F1F2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1F2ED"/>
                </a:solidFill>
                <a:latin typeface="Helvetica Neue"/>
                <a:ea typeface="Helvetica Neue"/>
                <a:cs typeface="Helvetica Neue"/>
              </a:rPr>
              <a:t>2% risk per trade</a:t>
            </a:r>
          </a:p>
          <a:p xmlns:a="http://schemas.openxmlformats.org/drawingml/2006/main">
            <a:pPr algn="l">
              <a:defRPr sz="1725" b="1">
                <a:solidFill>
                  <a:srgbClr val="F1F2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1F2ED"/>
                </a:solidFill>
                <a:latin typeface="Helvetica Neue"/>
                <a:ea typeface="Helvetica Neue"/>
                <a:cs typeface="Helvetica Neue"/>
              </a:rPr>
              <a:t>8% total open risk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4AA4F6-61AD-42C1-A9FB-ED1212EA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8FF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A8FF00"/>
                </a:solidFill>
                <a:latin typeface="Helvetica Neue"/>
                <a:ea typeface="Helvetica Neue"/>
                <a:cs typeface="Helvetica Neue"/>
              </a:rPr>
              <a:t>Open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60F1A6-216A-4A15-B182-0533C720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816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AA2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9AA2A7"/>
                </a:solidFill>
                <a:latin typeface="Helvetica Neue"/>
                <a:ea typeface="Helvetica Neue"/>
                <a:cs typeface="Helvetica Neue"/>
              </a:rPr>
              <a:t>public ledger   broker receipts   45-second demo   keyless assertions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0661AE-5199-49DA-9269-C9FD807C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3BF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E3BF63"/>
                </a:solidFill>
                <a:latin typeface="Helvetica Neue"/>
                <a:ea typeface="Helvetica Neue"/>
                <a:cs typeface="Helvetica Neue"/>
              </a:rPr>
              <a:t>First two entries remain FILLED. Only the signed-credit third entry is price-bound MATCHED.</a:t>
            </a:r>
          </a:p>
        </p:txBody>
      </p:sp>
    </p:spTree>
    <p:extLst>
      <p:ext uri="{BB962C8B-B14F-4D97-AF65-F5344CB8AC3E}">
        <p14:creationId xmlns:p14="http://schemas.microsoft.com/office/powerpoint/2010/main" val="332343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2026-09-04T01:13:34.9560000Z</dcterms:created>
  <dcterms:modified xsi:type="dcterms:W3CDTF">2026-09-04T01:13:34.9560000Z</dcterms:modified>
</coreProperties>
</file>